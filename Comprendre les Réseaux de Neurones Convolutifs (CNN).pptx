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646265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09600" y="2173634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&amp; DEEP LEARNING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497484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Fonctionnement d'un CNN et Rôle des Couches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3865215"/>
            <a:ext cx="6762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Analyse détaillée des briques fondamentales pour la vision par ordinateur et la classification d'images.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3159323"/>
            <a:ext cx="3505200" cy="1657350"/>
          </a:xfrm>
          <a:prstGeom prst="roundRect">
            <a:avLst>
              <a:gd fmla="val 689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343400" y="3159425"/>
            <a:ext cx="3505200" cy="1657500"/>
          </a:xfrm>
          <a:prstGeom prst="roundRect">
            <a:avLst>
              <a:gd fmla="val 805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8077200" y="3159275"/>
            <a:ext cx="3505200" cy="1657500"/>
          </a:xfrm>
          <a:prstGeom prst="roundRect">
            <a:avLst>
              <a:gd fmla="val 805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09600" y="3159323"/>
            <a:ext cx="38100" cy="16573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4343400" y="3278385"/>
            <a:ext cx="38100" cy="14192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077200" y="3278385"/>
            <a:ext cx="38100" cy="14192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09600" y="2041177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Pipeline Global d'un CNN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09600" y="2559248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l'extraction spatiale des caractéristiques visuelles jusqu'à la classification finale.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464123"/>
            <a:ext cx="310038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Extraction (Feature Learning)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4054673"/>
            <a:ext cx="295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Conv2D &amp; MaxPooling successifs pour isoler les motifs locaux.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86300" y="3481131"/>
            <a:ext cx="375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Transition (Aplatissement)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86300" y="3935610"/>
            <a:ext cx="2952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Flatten transforme les cartes 2D en vecteur dense 1D.</a:t>
            </a:r>
            <a:endParaRPr b="0" i="0" sz="1200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420100" y="3489636"/>
            <a:ext cx="375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Classification (Dense)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20100" y="3935610"/>
            <a:ext cx="295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Raisonnement logique et softmax pour affecter la classe finale.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609600" y="2688133"/>
            <a:ext cx="5324475" cy="2599729"/>
          </a:xfrm>
          <a:prstGeom prst="roundRect">
            <a:avLst>
              <a:gd fmla="val 439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238875" y="2710449"/>
            <a:ext cx="5343600" cy="2577300"/>
          </a:xfrm>
          <a:prstGeom prst="roundRect">
            <a:avLst>
              <a:gd fmla="val 6104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09600" y="1569987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couche Conv2D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09600" y="2088058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Extraction automatique des caractéristiques visuelles locales de l'image.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3031033"/>
            <a:ext cx="60882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Rôle Principal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591300" y="3003502"/>
            <a:ext cx="56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Activation ReLU associée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91300" y="3483092"/>
            <a:ext cx="47340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Introduit de la non-linéarité en remplaçant toutes les valeurs négatives par zéro, permettant au réseau d'apprendre des motifs complexes.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57275" y="3422511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143000" y="3421558"/>
            <a:ext cx="5560218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Applique des filtres glissants (noyaux) sur l'image d'entrée.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57275" y="3795772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43000" y="3794819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Détecte les contours, textures et formes géométriques de bas niveau.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57275" y="4427993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143000" y="4427041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Génère des cartes de caractéristiques (feature maps) successives.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609600" y="2558653"/>
            <a:ext cx="5324475" cy="2858690"/>
          </a:xfrm>
          <a:prstGeom prst="roundRect">
            <a:avLst>
              <a:gd fmla="val 399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6238875" y="2576847"/>
            <a:ext cx="5343600" cy="2858700"/>
          </a:xfrm>
          <a:prstGeom prst="roundRect">
            <a:avLst>
              <a:gd fmla="val 6104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09600" y="1440507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couche MaxPooling2D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09600" y="1958578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Réduction spatiale et optimisation des calculs.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52500" y="2901553"/>
            <a:ext cx="608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Sous-échantillonnage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591300" y="2914437"/>
            <a:ext cx="56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Béwnéfice Clé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591300" y="3293019"/>
            <a:ext cx="47340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Confère au modèle une invariance par rapport aux légères translations, décalages ou variations de position des objets dans l'image.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57275" y="3293030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143000" y="3292078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Divise par deux les dimensions spatiales (ex: 28x28 vers 14x14).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57275" y="3925252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143000" y="3924300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Conserve uniquement la valeur maximale (Max) dans chaque fenêtre de pixels.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57275" y="4557474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143000" y="4556521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Réduit drastiquement le nombre de paramètres et de calculs en mémoire.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609600" y="2558653"/>
            <a:ext cx="5324475" cy="2858690"/>
          </a:xfrm>
          <a:prstGeom prst="roundRect">
            <a:avLst>
              <a:gd fmla="val 399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238875" y="2572758"/>
            <a:ext cx="5343600" cy="2858700"/>
          </a:xfrm>
          <a:prstGeom prst="roundRect">
            <a:avLst>
              <a:gd fmla="val 7084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09600" y="1440507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couche Flatten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09600" y="1958578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passerelle indispensable entre vision spatiale et classification.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2901553"/>
            <a:ext cx="60882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Aplatissement des données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591300" y="2865782"/>
            <a:ext cx="56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Transition de paradigme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91300" y="3286001"/>
            <a:ext cx="4734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Marque la fin de l'extraction des structures spatiales locales et le début du processus de décision globale.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57275" y="3293030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143000" y="3292078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Transforme les matrices de caractéristiques 2D/3D en un vecteur linéaire 1D.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057275" y="3925252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143000" y="3924300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Conserve l'ensemble des informations extraites par les convolutions précédentes.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057275" y="4557474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143000" y="4556521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Prépare le format de données attendu par les couches entièrement connectées (Dense).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>
            <a:off x="609600" y="2558653"/>
            <a:ext cx="5324475" cy="2858690"/>
          </a:xfrm>
          <a:prstGeom prst="roundRect">
            <a:avLst>
              <a:gd fmla="val 399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6238875" y="2558650"/>
            <a:ext cx="5343600" cy="2858700"/>
          </a:xfrm>
          <a:prstGeom prst="roundRect">
            <a:avLst>
              <a:gd fmla="val 7084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609600" y="1440507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couche Dense (Fully Connected)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09600" y="1958578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Raisonnement logique et prise de décision finale.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52500" y="2901553"/>
            <a:ext cx="60882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Connexions Totales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591300" y="2895476"/>
            <a:ext cx="56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 MNIST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591300" y="3271157"/>
            <a:ext cx="4734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Couche finale de 10 neurones correspondant aux 10 chiffres (0 à 9) avec un score de probabilité pour chacun.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057275" y="3293030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143000" y="3292078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Chaque neurone est connecté à l'ensemble des activations de la couche précédente.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057275" y="3925252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143000" y="3924300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Synthétise les motifs de haut niveau pour aboutir à une décision.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57275" y="4557474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143000" y="4556521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Utilise la fonction Softmax en sortie pour fournir des probabilités par classe.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609600" y="2558653"/>
            <a:ext cx="5324475" cy="2858690"/>
          </a:xfrm>
          <a:prstGeom prst="roundRect">
            <a:avLst>
              <a:gd fmla="val 399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238875" y="2558650"/>
            <a:ext cx="5343600" cy="2858700"/>
          </a:xfrm>
          <a:prstGeom prst="roundRect">
            <a:avLst>
              <a:gd fmla="val 6104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609600" y="1440507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couche Dropout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09600" y="1958578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Régularisation et lutte contre le surapprentissage (overfitting).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52500" y="2901553"/>
            <a:ext cx="60882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Mécanisme de Désactivation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591300" y="2914437"/>
            <a:ext cx="56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 Opérationnel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591300" y="3275274"/>
            <a:ext cx="47340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Actif uniquement pendant l'apprentissage (`fit`), il est automatiquement désactivé lors de l'évaluation et des prédictions en production.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057275" y="3293030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143000" y="3292078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Désactive aléatoirement un pourcentage de neurones (ex: 50%) à chaque étape d'entraînement.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057275" y="3925252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143000" y="3924300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Empêche les neurones de co-s'adapter excessivement entre eux.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057275" y="4557474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143000" y="4556521"/>
            <a:ext cx="454342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Forcer le réseau à apprendre des représentations robustes et généralisables.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/>
          <p:nvPr/>
        </p:nvSpPr>
        <p:spPr>
          <a:xfrm>
            <a:off x="3552825" y="3919537"/>
            <a:ext cx="2209800" cy="933450"/>
          </a:xfrm>
          <a:prstGeom prst="roundRect">
            <a:avLst>
              <a:gd fmla="val 122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143625" y="3919537"/>
            <a:ext cx="2495550" cy="933450"/>
          </a:xfrm>
          <a:prstGeom prst="roundRect">
            <a:avLst>
              <a:gd fmla="val 122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3276897" y="2005012"/>
            <a:ext cx="56382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 &amp; Synthèse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928812" y="2681287"/>
            <a:ext cx="8334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L'association synergique des convolutions, du pooling et de la régularisation permet d'atteindre des performances remarquables sur les tâches de vision.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3717131" y="4157662"/>
            <a:ext cx="1881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Extraction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3717131" y="4433887"/>
            <a:ext cx="1881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Conv2D + MaxPooling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272212" y="4157662"/>
            <a:ext cx="2238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Décision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272212" y="4433887"/>
            <a:ext cx="2238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Flatten + Dense + Dropout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